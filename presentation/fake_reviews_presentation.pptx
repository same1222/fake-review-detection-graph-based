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Genuine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reviewUsefulCount</c:v>
                  </c:pt>
                  <c:pt idx="1">
                    <c:v>friendCount</c:v>
                  </c:pt>
                  <c:pt idx="2">
                    <c:v>reviewCount</c:v>
                  </c:pt>
                  <c:pt idx="3">
                    <c:v>usefulCount</c:v>
                  </c:pt>
                  <c:pt idx="4">
                    <c:v>fanCount</c:v>
                  </c:pt>
                  <c:pt idx="5">
                    <c:v>firstCount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</c:v>
                </c:pt>
                <c:pt idx="1">
                  <c:v>60.06</c:v>
                </c:pt>
                <c:pt idx="2">
                  <c:v>122.29</c:v>
                </c:pt>
                <c:pt idx="3">
                  <c:v>274.11</c:v>
                </c:pt>
                <c:pt idx="4">
                  <c:v>7.34</c:v>
                </c:pt>
                <c:pt idx="5">
                  <c:v>11.14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Fake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reviewUsefulCount</c:v>
                  </c:pt>
                  <c:pt idx="1">
                    <c:v>friendCount</c:v>
                  </c:pt>
                  <c:pt idx="2">
                    <c:v>reviewCount</c:v>
                  </c:pt>
                  <c:pt idx="3">
                    <c:v>usefulCount</c:v>
                  </c:pt>
                  <c:pt idx="4">
                    <c:v>fanCount</c:v>
                  </c:pt>
                  <c:pt idx="5">
                    <c:v>firstCount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2.58</c:v>
                </c:pt>
                <c:pt idx="2">
                  <c:v>7.13</c:v>
                </c:pt>
                <c:pt idx="3">
                  <c:v>3.24</c:v>
                </c:pt>
                <c:pt idx="4">
                  <c:v>0.08</c:v>
                </c:pt>
                <c:pt idx="5">
                  <c:v>0.25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D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D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7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2E8F0"/>
                </a:solidFill>
                <a:latin typeface="Arial"/>
              </a:rPr>
              <a:t>Label Distribution (Train)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Genuine (0)</c:v>
                </c:pt>
                <c:pt idx="1">
                  <c:v>Fake (1)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4994</c:v>
                </c:pt>
                <c:pt idx="1">
                  <c:v>4935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720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C8D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C8DB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C8DB5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TEXT+LogReg</c:v>
                  </c:pt>
                  <c:pt idx="1">
                    <c:v>TEXT+RF</c:v>
                  </c:pt>
                  <c:pt idx="2">
                    <c:v>TEXT+XGB</c:v>
                  </c:pt>
                  <c:pt idx="3">
                    <c:v>STRUCT+LogReg</c:v>
                  </c:pt>
                  <c:pt idx="4">
                    <c:v>STRUCT+RF</c:v>
                  </c:pt>
                  <c:pt idx="5">
                    <c:v>STRUCT+XGB</c:v>
                  </c:pt>
                  <c:pt idx="6">
                    <c:v>HYBRID+LogReg</c:v>
                  </c:pt>
                  <c:pt idx="7">
                    <c:v>HYBRID+RF</c:v>
                  </c:pt>
                  <c:pt idx="8">
                    <c:v>HYBRID+XGB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0.755</c:v>
                </c:pt>
                <c:pt idx="1">
                  <c:v>0.728</c:v>
                </c:pt>
                <c:pt idx="2">
                  <c:v>0.734</c:v>
                </c:pt>
                <c:pt idx="3">
                  <c:v>0.923</c:v>
                </c:pt>
                <c:pt idx="4">
                  <c:v>0.941</c:v>
                </c:pt>
                <c:pt idx="5">
                  <c:v>0.949</c:v>
                </c:pt>
                <c:pt idx="6">
                  <c:v>0.93</c:v>
                </c:pt>
                <c:pt idx="7">
                  <c:v>0.946</c:v>
                </c:pt>
                <c:pt idx="8">
                  <c:v>0.944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D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D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720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Top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usefulCount</c:v>
                  </c:pt>
                  <c:pt idx="1">
                    <c:v>reviewUsefulCount</c:v>
                  </c:pt>
                  <c:pt idx="2">
                    <c:v>friendCount</c:v>
                  </c:pt>
                  <c:pt idx="3">
                    <c:v>reviewer_deg</c:v>
                  </c:pt>
                  <c:pt idx="4">
                    <c:v>funnyCount</c:v>
                  </c:pt>
                  <c:pt idx="5">
                    <c:v>reviews_last30d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0.195</c:v>
                </c:pt>
                <c:pt idx="1">
                  <c:v>0.181</c:v>
                </c:pt>
                <c:pt idx="2">
                  <c:v>0.142</c:v>
                </c:pt>
                <c:pt idx="3">
                  <c:v>0.098</c:v>
                </c:pt>
                <c:pt idx="4">
                  <c:v>0.087</c:v>
                </c:pt>
                <c:pt idx="5">
                  <c:v>0.074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D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D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7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662940"/>
            <a:ext cx="502920" cy="50292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9384" y="1929384"/>
            <a:ext cx="347472" cy="347472"/>
          </a:xfrm>
          <a:prstGeom prst="ellipse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66660" y="1074420"/>
            <a:ext cx="411480" cy="41148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76" y="2779776"/>
            <a:ext cx="292608" cy="29260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3666744"/>
            <a:ext cx="347472" cy="347472"/>
          </a:xfrm>
          <a:prstGeom prst="ellipse">
            <a:avLst/>
          </a:prstGeom>
          <a:solidFill>
            <a:srgbClr val="F59E0B">
              <a:alpha val="84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3986784"/>
            <a:ext cx="256032" cy="25603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6060" y="4229100"/>
            <a:ext cx="320040" cy="320040"/>
          </a:xfrm>
          <a:prstGeom prst="ellipse">
            <a:avLst/>
          </a:prstGeom>
          <a:solidFill>
            <a:srgbClr val="0EA5E9">
              <a:alpha val="8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Fake Review Detection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Reviewer–Restaurant Networks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2880360"/>
            <a:ext cx="3657600" cy="36576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992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Group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101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Smeh Diab  ·  Nir Levon  ·  Shir Fox  ·  Neta Nachteiler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Methodology  ·  Yelp Fake Review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79576"/>
            <a:ext cx="384048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95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795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093976"/>
            <a:ext cx="384048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939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939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008376"/>
            <a:ext cx="38404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083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0083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922776"/>
            <a:ext cx="38404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227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9227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(33 features)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179576"/>
            <a:ext cx="38404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1795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1795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3×3 Factorial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9659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2093976"/>
            <a:ext cx="38404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0939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0939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Best Model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008376"/>
            <a:ext cx="38404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0083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0083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vs Business Criteria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4114800" cy="71323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922776"/>
            <a:ext cx="38404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92277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39227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97680" cy="388620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review platforms drive consumer trust, restaurant reputation and purchasing decisions. Fake or manipulated reviews mislead users, damage fair competition, and reduce platform credibility.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fake reviews look legitimate in isolation. Text alone cannot capture WHO wrote it, WHEN they wrote it, or HOW they interact with the restaurant network.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307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improve fake review detection by analyzing reviewer–restaurant interaction patterns in addition to review text?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840480" cy="82296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1440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987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Misleads Customers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1280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make decisions based on false information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1874520"/>
            <a:ext cx="3840480" cy="82296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8745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947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 Businesses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2352" y="2240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ratings harm honest restaurants unfairly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2834640"/>
            <a:ext cx="3840480" cy="82296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834640"/>
            <a:ext cx="64008" cy="822960"/>
          </a:xfrm>
          <a:prstGeom prst="rect">
            <a:avLst/>
          </a:prstGeom>
          <a:solidFill>
            <a:srgbClr val="7C8DB5"/>
          </a:solidFill>
          <a:ln w="12700">
            <a:solidFill>
              <a:srgbClr val="7C8D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Platform Trust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02352" y="3200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credibility of the entire platform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794760"/>
            <a:ext cx="3840480" cy="82296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794760"/>
            <a:ext cx="64008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3867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Overloads Moderation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2352" y="4160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 and expensive at scale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 &amp; Success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38404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reliability of online restaurant reviews by detecting fake reviews using both text signals and reviewer–restaurant interaction patterns.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exposure of users to misleading reviews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moderation teams prioritize suspicious cases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reviewer behavior (burst activity)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honest restaurants from artificial manipulation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interpretable outputs for human decision-making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51790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outperforms text-only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15798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103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ranks suspicious reviews for moderation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79806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outputs — not a black box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43814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383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false positive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07822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4023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explanation of graph construction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572768" cy="9601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05256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425550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9968" y="868680"/>
            <a:ext cx="1572768" cy="9601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905256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9,929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29968" y="1425550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9896" y="868680"/>
            <a:ext cx="1572768" cy="9601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9896" y="905256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39896" y="1425550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9824" y="868680"/>
            <a:ext cx="1572768" cy="9601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9824" y="905256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8,332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49824" y="1425550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59752" y="868680"/>
            <a:ext cx="1572768" cy="9601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59752" y="905256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59752" y="1425550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029968"/>
            <a:ext cx="6400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066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Info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031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review_id  ·  date  ·  rating  ·  review_text  ·  label (fake/genuine)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34056"/>
            <a:ext cx="8503920" cy="59436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34056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Activity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65960" y="280720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reviewer_id  ·  name  ·  location  ·  yelpJoinDate  ·  friendCount  ·  reviewCount  ·  fanCount  ·  usefulCount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38144"/>
            <a:ext cx="8503920" cy="59436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438144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Info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3511296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 ·  restaurantRating  ·  ReviewLength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42232"/>
            <a:ext cx="8503920" cy="59436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142232"/>
            <a:ext cx="64008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65960" y="4215384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→ label  (1 = Fake, 0 = Genuine)   —   Binary classification task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Yelp-style fake review dataset (Kaggle)  ·  new_data_train.csv  +  new_data_test.csv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The Key Signal: Behavioral Profiles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21792"/>
          </a:xfrm>
          <a:prstGeom prst="rect">
            <a:avLst/>
          </a:prstGeom>
          <a:solidFill>
            <a:srgbClr val="1A35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Fake reviewers have near-ZERO behavioral presence — tiny friend counts, review counts, and useful votes.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81912"/>
          <a:ext cx="5486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581912"/>
            <a:ext cx="274320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80760" y="158191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36208" y="16184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reviewUsefulCount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36208" y="18562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genuine vs 0.00 fake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36208" y="2039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reviews receive ZERO useful votes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80760" y="2404872"/>
            <a:ext cx="274320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240487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4414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friendCount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36208" y="2679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genuine vs 3 fake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36208" y="28620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reviewers have almost no social connections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80760" y="3227832"/>
            <a:ext cx="274320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0760" y="3227832"/>
            <a:ext cx="54864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32644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reviewCount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36208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genuine vs 7 fake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36208" y="36850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accounts have very few reviews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80760" y="4050792"/>
            <a:ext cx="274320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80760" y="405079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36208" y="40873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usefulCount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36208" y="4325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genuine vs 3 fake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36208" y="45079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users have negligible engagement history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Label Balance &amp; Graph Structure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297680" y="914400"/>
            <a:ext cx="4480560" cy="320040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4805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0560" y="1417320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45152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8,436 nodes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45152" y="1636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8,332 reviewers + 104 restaurants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0" y="1965960"/>
            <a:ext cx="54864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65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9,929 edges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45152" y="2185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edge per review (train set)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80560" y="251460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2514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reviewers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45152" y="2734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only once — weak personal history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80560" y="3063240"/>
            <a:ext cx="54864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3063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 reviews each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45152" y="32826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are high-degree hubs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80560" y="3611880"/>
            <a:ext cx="54864" cy="384048"/>
          </a:xfrm>
          <a:prstGeom prst="rect">
            <a:avLst/>
          </a:prstGeom>
          <a:solidFill>
            <a:srgbClr val="7C8DB5"/>
          </a:solidFill>
          <a:ln w="12700">
            <a:solidFill>
              <a:srgbClr val="7C8D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45152" y="3611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45152" y="38313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connected graph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8640" y="42245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Implication: 88% single-visit reviewers means reviewer-degree alone is weak. Useful structure lives in restaurant-level aggregates, rating deviations, temporal bursts, and behavioral profile stats.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Leakage Prevention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60520" cy="37033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35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3898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1636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review_id rows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95681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110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2157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 column to datetime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7802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432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ratings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26791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values in [1, 5]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9535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string for null review_text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474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3721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flagged→label, reviewID→review_id, etc.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9959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" y="42428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1=fake, 0=genuine (already binary)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914400"/>
            <a:ext cx="3977640" cy="37033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Audit — Single-Feature AUC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AUC = strong signal, not leakage (behavioral snapshots available at prediction time)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usefulCount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1837944"/>
            <a:ext cx="12330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6788" y="1819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240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reviewCount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2295144"/>
            <a:ext cx="122621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29930" y="22768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coolCount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0" y="2752344"/>
            <a:ext cx="120015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3870" y="27340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3154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funnyCount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3209544"/>
            <a:ext cx="11919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5640" y="31912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friendCount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58000" y="3666744"/>
            <a:ext cx="118506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88782" y="36484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4069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complimentCount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0" y="4123944"/>
            <a:ext cx="1153516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57236" y="41056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solidFill>
            <a:srgbClr val="1A35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profile snapshots — valid predictors, confirmed not leakage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Graph Construction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5204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 types: Reviewers and Restaurants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 creates one edge between a reviewer and a restaurant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carries: rating, date, label (fake/genuine)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built on TRAIN data ONLY to prevent leakage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connected components in the resulting graph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code: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758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G.add_nodes_from(reviewer_ids, bipartite="reviewer")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G.add_nodes_from(restaurant_ids, bipartite="restaurant")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G.add_edges_from(zip(reviewer_ids, restaurant_ids))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99632" y="1536192"/>
            <a:ext cx="1298448" cy="-27432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536192"/>
            <a:ext cx="1298448" cy="32004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2679192"/>
            <a:ext cx="1298448" cy="-82296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679192"/>
            <a:ext cx="1298448" cy="-22860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2679192"/>
            <a:ext cx="1298448" cy="36576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3822192"/>
            <a:ext cx="1298448" cy="-77724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3822192"/>
            <a:ext cx="1298448" cy="-18288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3822192"/>
            <a:ext cx="1298448" cy="41148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371600"/>
            <a:ext cx="530352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3716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514600"/>
            <a:ext cx="530352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5146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3657600"/>
            <a:ext cx="530352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6576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1097280"/>
            <a:ext cx="502920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097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1691640"/>
            <a:ext cx="502920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6916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0" y="2286000"/>
            <a:ext cx="502920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2860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98080" y="2880360"/>
            <a:ext cx="502920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28803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3474720"/>
            <a:ext cx="502920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4747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69080"/>
            <a:ext cx="502920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40690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4572000"/>
            <a:ext cx="914400" cy="4572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8,436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06440" y="4572000"/>
            <a:ext cx="914400" cy="4572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06440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9,929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0644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0" y="4572000"/>
            <a:ext cx="914400" cy="4572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0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8,332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909560" y="4572000"/>
            <a:ext cx="914400" cy="4572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09560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0956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15000" y="4453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78040" y="4453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6 Groups, 33 Total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2344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87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987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280160"/>
            <a:ext cx="3794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reviewer_deg · reviewer_pagerank · reviewer_betweenness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reviewer_component_size · avg_rating_by_reviewer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12344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987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Graph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987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1280160"/>
            <a:ext cx="3794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rest_deg · rest_mean_rating · rest_std_rating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restaurant_pagerank · restaurant_betweenness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258568"/>
            <a:ext cx="4069080" cy="12344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5856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331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Deviation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2331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" y="2624328"/>
            <a:ext cx="3794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rating_deviation_from_reviewer_mean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rating_deviation_from_restaurant_mean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58568"/>
            <a:ext cx="4069080" cy="12344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58568"/>
            <a:ext cx="6400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331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Burst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2331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624328"/>
            <a:ext cx="3794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reviews_last_7d/30d by reviewer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reviews_last_7d/30d by restaurant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average_days_between_reviews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02736"/>
            <a:ext cx="4069080" cy="135331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02736"/>
            <a:ext cx="64008" cy="13533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6758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Similarity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63240" y="3675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" y="3968496"/>
            <a:ext cx="3794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avg_jaccard_similarity_to_neighbors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max_jaccard_similarity_to_neighbors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602736"/>
            <a:ext cx="4069080" cy="135331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02736"/>
            <a:ext cx="64008" cy="13533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6758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Profile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3675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968496"/>
            <a:ext cx="3794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friendCount · reviewCount · fanCount · usefulCount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coolCount · funnyCount · complimentCount · tipCount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firstCount · reviewUsefulCount · restaurantRating · ReviewLength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aggregates computed on TRAIN only, then mapped to TEST — prevents train to test leakage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Fix: Leakage Prevention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794760"/>
          </a:xfrm>
          <a:prstGeom prst="rect">
            <a:avLst/>
          </a:prstGeom>
          <a:solidFill>
            <a:srgbClr val="2D101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3794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Version (Leaky)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32588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computed on train+test combined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means computed on concat([train, test])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edges shaped graph structure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entered reviewer/restaurant means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then used to train the model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effectively saw test data during training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3794760"/>
          </a:xfrm>
          <a:prstGeom prst="rect">
            <a:avLst/>
          </a:prstGeom>
          <a:solidFill>
            <a:srgbClr val="0F2818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64008" cy="3794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Version (No Leakage)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32588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TRAIN graph built (Gtr) — test edges excluded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and centrality computed on Gtr 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means computed on TRAIN rows 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bursts counted against TRAIN history 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bitmasks built from TRAIN restaurants 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receive mapped values from TRAIN lookups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always audit every aggregate/graph feature for train to test information flow before modeling.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Design — 3 x 3 Factorial Experiment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8328" y="960120"/>
            <a:ext cx="182880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60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67128" y="960120"/>
            <a:ext cx="221284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9601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960120"/>
            <a:ext cx="221284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9976" y="9601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92824" y="960120"/>
            <a:ext cx="2212848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9601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1399032"/>
            <a:ext cx="1828800" cy="10972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39903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(TF-IDF)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67128" y="139903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139903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0.755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9976" y="139903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9976" y="139903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0.728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92824" y="139903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139903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0.734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" y="2587752"/>
            <a:ext cx="1828800" cy="10972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58775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(Graph+Behavioral)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67128" y="258775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67128" y="25877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0.923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79976" y="258775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9976" y="25877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0.941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92824" y="2587752"/>
            <a:ext cx="2212848" cy="1097280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258775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0.949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8328" y="3776472"/>
            <a:ext cx="1828800" cy="10972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77647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(Text+Struct)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67128" y="377647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67128" y="377647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79976" y="377647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9976" y="377647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0.946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92824" y="3776472"/>
            <a:ext cx="2212848" cy="1097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3776472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0.944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8328" y="4572000"/>
            <a:ext cx="8467344" cy="43891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5720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configurations across all runs. Train=new_data_train.csv. Test=new_data_test.csv. 5-fold CV on STRUCT+XGB = 0.969 +/- 0.003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— All 9 Experiments (AUROC)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07992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4507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(TF-IDF only)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68880" y="4507992"/>
            <a:ext cx="201168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24912" y="4507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(Graph+Behavioral)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0" y="4507992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4507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STRUCT+XGB (0.949)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75120" y="4507992"/>
            <a:ext cx="201168" cy="201168"/>
          </a:xfrm>
          <a:prstGeom prst="rect">
            <a:avLst/>
          </a:prstGeom>
          <a:solidFill>
            <a:srgbClr val="7C8DB5"/>
          </a:solidFill>
          <a:ln w="12700">
            <a:solidFill>
              <a:srgbClr val="7C8D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1152" y="4507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4754880"/>
            <a:ext cx="3108960" cy="274320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STRUCT+XGB vs TEXT best: +0.194 AUROC (+25.7%)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Revised Parameter Settings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4.4 requires a revision loop: assess model, revise parameters, rebuild. We applied RandomizedSearchCV (40 iterations, 5-fold CV, train-only) on the best model — STRUCT x XGBoost.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60520" cy="3383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200, 300, 400, 500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258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3, 4, 5, 6, 7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883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688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0.03, 0.05, 0.08, 0.10, 0.15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18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3118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0.7, 0.8, 0.9, 1.0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547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0.7, 0.8, 0.9, 1.0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1, 3, 5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07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4407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0, 0.1, 0.3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023360" cy="33832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 Tuned Comparison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874520"/>
            <a:ext cx="173736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911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167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37760" y="245973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84848" y="2057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same after tuning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715768"/>
            <a:ext cx="173736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752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008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937760" y="330098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84848" y="2898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same after tuning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557016"/>
            <a:ext cx="1737360" cy="71323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3593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849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937760" y="41422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84848" y="37398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same after tuning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solidFill>
            <a:srgbClr val="1A35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Initial configurations were near-optimal. Tuning confirms robustness and completes the CRISP-DM revision cycle.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STRUCT x XGBoost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783080" cy="80467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868680"/>
            <a:ext cx="1783080" cy="80467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914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83080" y="1344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1783080" cy="80467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914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1344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1783080" cy="80467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914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1344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868680"/>
            <a:ext cx="1783080" cy="80467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914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1344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868680"/>
            <a:ext cx="1783080" cy="804672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914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35240" y="1344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874520"/>
            <a:ext cx="4069080" cy="297180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2377440"/>
            <a:ext cx="1627632" cy="106984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377440"/>
            <a:ext cx="16276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532888" y="2377440"/>
            <a:ext cx="1627632" cy="1069848"/>
          </a:xfrm>
          <a:prstGeom prst="rect">
            <a:avLst/>
          </a:prstGeom>
          <a:solidFill>
            <a:srgbClr val="2D101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32888" y="2377440"/>
            <a:ext cx="16276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3529584"/>
            <a:ext cx="1627632" cy="1069848"/>
          </a:xfrm>
          <a:prstGeom prst="rect">
            <a:avLst/>
          </a:prstGeom>
          <a:solidFill>
            <a:srgbClr val="2D101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529584"/>
            <a:ext cx="16276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532888" y="3529584"/>
            <a:ext cx="1627632" cy="106984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3529584"/>
            <a:ext cx="16276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22311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32888" y="22311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2608" y="2834640"/>
            <a:ext cx="475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92608" y="3986784"/>
            <a:ext cx="475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75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4572000" y="1874520"/>
          <a:ext cx="42062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 — Moderation Risk Queue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7218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5389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STRUCT+XGB outputs a risk_score in [0,1]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1226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reviews by descending risk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3405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Top-K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highest-risk reviews to human moderators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7413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3375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 or clears the flagged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32504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1421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decisions improve future retraining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Top 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1325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493776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124 highest-risk reviews are truly fake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852928"/>
            <a:ext cx="4023360" cy="190195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2944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310128"/>
            <a:ext cx="3657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 focus only on 5% of reviews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 of flagged cases are real fakes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reduces manual workload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— not automatic deletion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Did We Meet the Business Criteria?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14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outperforms text-only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710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STRUCT+XGB AUROC 0.949 vs TEXT+LogReg 0.755  (+0.194)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8412480" cy="56692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18488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184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6733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ranks suspicious reviews for moderation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9293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Precision@top-5% = 0.984 — high-fidelity risk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76856"/>
            <a:ext cx="8412480" cy="56692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76856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768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331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outputs — not a black box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5877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usefulCount &amp; friendCount are top signals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35224"/>
            <a:ext cx="8412480" cy="56692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35224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352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9900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false positive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2461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 approx 7.7% (96 / 1,241 genuine reviews flagged)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593592"/>
            <a:ext cx="8412480" cy="56692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93592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935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6484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graph construction explanation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9044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graph + 33 features fully documented in notebook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251960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519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306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outperforms model choice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56285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with any classifier beats all TEXT configurations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solidFill>
            <a:srgbClr val="0D302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success criteria met. The project delivers a complete, interpretable, and deployable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Review &amp; Lessons Learned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60520" cy="388620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features dominated text by a large margin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structure kept the project on track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aggregates prevented all leakage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factorial clearly separated feature vs model effects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artifacts reproducible from saved files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 of test reviewers were unseen (cold-start)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version leaked via train+test graph — caught and fixed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adds almost no value when behavioral data is rich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388620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for Similar Projects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657600" cy="6858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Always start with a leakage audit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764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Single-feature AUC &gt; 0.8 needs scrutiny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221992"/>
            <a:ext cx="3657600" cy="6858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Graph beats GNN when graph is sparse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569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degree-1 reviewers means engineered features win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026664"/>
            <a:ext cx="3657600" cy="6858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Cold-start is the main production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fallback strategy before deployment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831336"/>
            <a:ext cx="3657600" cy="68580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74920" y="38770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Calibration matters for moderation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 need probabilities, not just ranks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7548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9692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Artifacts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976" y="122529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XGBoost + StandardScaler + TRAIN lookups as a versioned model bundle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54480"/>
            <a:ext cx="47548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1609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Probabilities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18653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isotonic regression — ensures risk scores are true probabilities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94560"/>
            <a:ext cx="47548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9456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" y="22494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Wrapper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" y="250545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score_reviews(df): raw reviews in, risk scores 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47548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0976" y="2889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 Batch Job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976" y="314553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 or Airflow job for daily scoring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8412480" cy="5486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74720"/>
            <a:ext cx="47548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0976" y="3529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" y="378561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top-K reviews with risk score and feature explanation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114800"/>
            <a:ext cx="47548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148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0976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976" y="442569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 with human moderation for 2–4 weeks before full rollout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Cold-start: 73.8% of test reviewers unseen. Production → global-mean fallback + low_confidence flag for moderators.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Plan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60520" cy="39319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Monitoring Targets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840480" cy="6400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— Target &gt;= 0.93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1764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0.90 triggers retraining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3840480" cy="6400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67128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12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Precision@top-5% — Target &gt;= 0.95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2514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0.90 adjust 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3840480" cy="6400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916936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— Target &lt;= 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" y="3264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8% raise threshold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666744"/>
            <a:ext cx="3840480" cy="640080"/>
          </a:xfrm>
          <a:prstGeom prst="rect">
            <a:avLst/>
          </a:prstGeom>
          <a:solidFill>
            <a:srgbClr val="1B2B5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666744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 — Stable (KS p &gt; 0.05)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" y="40142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data drift alert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472184"/>
            <a:ext cx="8686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472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16168" y="14721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probability calibration (isotonic regression)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139696"/>
            <a:ext cx="868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1396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16168" y="21396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analysis: AUROC on unseen-reviewer rows separately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807208"/>
            <a:ext cx="8686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8072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16168" y="28072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Cross-reviewer collusion features (coordinated targeting)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474720"/>
            <a:ext cx="868680" cy="256032"/>
          </a:xfrm>
          <a:prstGeom prst="rect">
            <a:avLst/>
          </a:prstGeom>
          <a:solidFill>
            <a:srgbClr val="7C8DB5"/>
          </a:solidFill>
          <a:ln w="12700">
            <a:solidFill>
              <a:srgbClr val="7C8D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474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16168" y="3474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 on moderation decisions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4142232"/>
            <a:ext cx="868680" cy="256032"/>
          </a:xfrm>
          <a:prstGeom prst="rect">
            <a:avLst/>
          </a:prstGeom>
          <a:solidFill>
            <a:srgbClr val="7C8DB5"/>
          </a:solidFill>
          <a:ln w="12700">
            <a:solidFill>
              <a:srgbClr val="7C8D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1422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16168" y="41422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experiment if behavioral metadata becomes unavailable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4069080" cy="107899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43000"/>
            <a:ext cx="64008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344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outperforms 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600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STRUCT+XGB AUROC 0.949 vs TEXT best 0.755 (+25.7%)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69080" cy="107899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2344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profile is the strongest signal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8032" y="1600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usefulCount, friendCount, reviewCount dominate importance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4069080" cy="107899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0008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414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adds no value over graph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807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approx equals STRUCT for all three classifiers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350008"/>
            <a:ext cx="4069080" cy="107899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350008"/>
            <a:ext cx="64008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4414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Precision@top-5% = 0.984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2807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 of top-flagged reviews are genuinely fake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57016"/>
            <a:ext cx="4069080" cy="107899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57016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484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interpretable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014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have clear business meaning for moderators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557016"/>
            <a:ext cx="4069080" cy="1078992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557016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6484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is the main production risk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4014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 of test reviewers unseen — fallback strategy needed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graph-based approach is the right answer to this problem.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9,929 train + 2,483 test reviews (12,412 total)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8,436 nodes · 9,929 edges · 3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33: 12 behavioral + 21 graph-derived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Compared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combinations (3 feature sets x 3 classifiers)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 x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Precision@top-5%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Text-Only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+0.194 AUROC improvement (+25.7%)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CRISP-DM Phases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Understanding, Data, Prep, Modeling, Evaluation,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051560"/>
            <a:ext cx="640080" cy="640080"/>
          </a:xfrm>
          <a:prstGeom prst="ellipse">
            <a:avLst/>
          </a:prstGeom>
          <a:solidFill>
            <a:srgbClr val="0EA5E9">
              <a:alpha val="8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383280"/>
            <a:ext cx="548640" cy="548640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685800"/>
            <a:ext cx="457200" cy="45720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44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Smeh Diab  ·  Nir Levon  ·  Shir Fox  ·  Neta Nachteiler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Group 4  ·  Graph-Based Fake Review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3840480"/>
            <a:ext cx="5852160" cy="841248"/>
          </a:xfrm>
          <a:prstGeom prst="rect">
            <a:avLst/>
          </a:prstGeom>
          <a:solidFill>
            <a:srgbClr val="172040"/>
          </a:solidFill>
          <a:ln w="635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384048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STRUCT x XGBoost  ·  AUROC 0.949  ·  Precision@top-5% = 0.984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Graph-Based Fake Review Detection</dc:title>
  <dc:subject>PptxGenJS Presentation</dc:subject>
  <dc:creator>PptxGenJS</dc:creator>
  <cp:lastModifiedBy>PptxGenJS</cp:lastModifiedBy>
  <cp:revision>1</cp:revision>
  <dcterms:created xsi:type="dcterms:W3CDTF">2026-06-06T18:41:56Z</dcterms:created>
  <dcterms:modified xsi:type="dcterms:W3CDTF">2026-06-06T18:41:56Z</dcterms:modified>
</cp:coreProperties>
</file>